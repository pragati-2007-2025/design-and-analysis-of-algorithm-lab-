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b7c90af-40df-acf9-f51b-8281af23fbce}">
          <p14:sldIdLst>
            <p14:sldId id="256"/>
          </p14:sldIdLst>
        </p14:section>
        <p14:section name="Foundations" id="{787ab071-f7cf-20fc-c981-b278cddd68ae}">
          <p14:sldIdLst>
            <p14:sldId id="257"/>
            <p14:sldId id="258"/>
            <p14:sldId id="259"/>
          </p14:sldIdLst>
        </p14:section>
        <p14:section name="Worked Examples" id="{85887cd9-278b-ec7f-9d16-28391f71af0d}">
          <p14:sldIdLst>
            <p14:sldId id="260"/>
            <p14:sldId id="261"/>
            <p14:sldId id="262"/>
            <p14:sldId id="263"/>
          </p14:sldIdLst>
        </p14:section>
        <p14:section name="Implementation and Analysis" id="{fa26ba52-7c35-de01-b301-d7fe0a49a421}">
          <p14:sldIdLst>
            <p14:sldId id="264"/>
            <p14:sldId id="265"/>
            <p14:sldId id="266"/>
            <p14:sldId id="267"/>
            <p14:sldId id="268"/>
          </p14:sldIdLst>
        </p14:section>
        <p14:section name="Wrap-up" id="{3ac70da8-8f77-fa6a-b47f-d0704bd55889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2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2230"/>
                </a:solidFill>
                <a:latin typeface="+mn-lt"/>
              </a:rPr>
              <a:t>Distance from A (in order settled)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Distance from A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E22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F</c:v>
                  </c:pt>
                  <c:pt idx="4">
                    <c:v>D</c:v>
                  </c:pt>
                  <c:pt idx="5">
                    <c:v>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7</c:v>
                </c:pt>
                <c:pt idx="2">
                  <c:v>9</c:v>
                </c:pt>
                <c:pt idx="3">
                  <c:v>11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E22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867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DC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867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explains Dijkstra's algorithm: what problem it solves, why it is greedy, a full worked example, code, complexity, and its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problem: single-source shortest paths on a weighted graph. Point out that fewer edges does not mean lower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Greedy means making the best local choice at each step. Here the local choice is the closest unsettled vertex. Three ideas: choose, relax, never look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steps. The right panel shows relaxation with numbers: 9 + 2 = 11 beats the old distance of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graph. The task: shortest distance from A to every vertex. Edges are undirected and all weights are 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row by row. Orange cells changed in that step. Bold teal values are settled. Note row 3: settling C improves D from 22 to 20 and F from 14 to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lists vertices in the order they were settled. The key insight: A to F directly costs 14, but going through C costs only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smaller graph. The direct edge S to A costs 4, but the detour S to B to A costs 3, so the detour wins. Answer: S, B, A, T with total cost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course version in C uses an adjacency matrix and a visited array. minDistance is the greedy choice: it returns the closest unvisited vertex. A zero in the matrix means there is no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outer loop runs V minus 1 times. Each pass picks the closest unvisited vertex, marks it visited, then relaxes its neighbors. The printed output matches the hand trace from Example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structure for the priority queue decides the running time. Binary heap is the standard choice. V is the number of vertices, E the number of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sketch. S is the settled set. The next vertex u has the smallest tentative distance outside S. Any other route to u must leave S through some vertex v that is at least as far away, and non-negative edges cannot reduce the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Counterexample: A to B costs 2, A to C costs 5, C to B costs minus 4. Dijkstra settles B at 2 and never revisits it, but the true shortest path to B is A, C, B with cost 1. Use Bellman-Ford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Dijkstra underlies many real systems: map routing, network protocols such as OSPF, flight planning, game pathfinding, robotics and logistics.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points. Invite questions or offer to try a new graph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E_DARK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93776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572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Dijkstra's Greedy Algorithm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Shortest paths in weighted graphs, one greedy step at a time</a:t>
            </a:r>
            <a:endParaRPr lang="en-US" sz="1800" dirty="0"/>
          </a:p>
        </p:txBody>
      </p:sp>
      <p:sp>
        <p:nvSpPr>
          <p:cNvPr id="4" name="edge A-B"/>
          <p:cNvSpPr/>
          <p:nvPr/>
        </p:nvSpPr>
        <p:spPr>
          <a:xfrm flipV="1">
            <a:off x="5394960" y="1920240"/>
            <a:ext cx="1097280" cy="128016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5" name="edge A-C"/>
          <p:cNvSpPr/>
          <p:nvPr/>
        </p:nvSpPr>
        <p:spPr>
          <a:xfrm>
            <a:off x="5394960" y="3200400"/>
            <a:ext cx="1463040" cy="182880"/>
          </a:xfrm>
          <a:prstGeom prst="line">
            <a:avLst/>
          </a:prstGeom>
          <a:noFill/>
          <a:ln w="44450">
            <a:solidFill>
              <a:schemeClr val="accent3"/>
            </a:solidFill>
            <a:prstDash val="solid"/>
          </a:ln>
        </p:spPr>
      </p:sp>
      <p:sp>
        <p:nvSpPr>
          <p:cNvPr id="6" name="edge A-F"/>
          <p:cNvSpPr/>
          <p:nvPr/>
        </p:nvSpPr>
        <p:spPr>
          <a:xfrm>
            <a:off x="5394960" y="3200400"/>
            <a:ext cx="877824" cy="137160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7" name="edge B-C"/>
          <p:cNvSpPr/>
          <p:nvPr/>
        </p:nvSpPr>
        <p:spPr>
          <a:xfrm>
            <a:off x="6492240" y="1920240"/>
            <a:ext cx="365760" cy="146304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8" name="edge B-D"/>
          <p:cNvSpPr/>
          <p:nvPr/>
        </p:nvSpPr>
        <p:spPr>
          <a:xfrm>
            <a:off x="6492240" y="1920240"/>
            <a:ext cx="182880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9" name="edge C-D"/>
          <p:cNvSpPr/>
          <p:nvPr/>
        </p:nvSpPr>
        <p:spPr>
          <a:xfrm flipV="1">
            <a:off x="6858000" y="1920240"/>
            <a:ext cx="1463040" cy="146304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0" name="edge C-F"/>
          <p:cNvSpPr/>
          <p:nvPr/>
        </p:nvSpPr>
        <p:spPr>
          <a:xfrm flipV="1">
            <a:off x="6272784" y="3383280"/>
            <a:ext cx="585216" cy="1188720"/>
          </a:xfrm>
          <a:prstGeom prst="line">
            <a:avLst/>
          </a:prstGeom>
          <a:noFill/>
          <a:ln w="44450">
            <a:solidFill>
              <a:schemeClr val="accent3"/>
            </a:solidFill>
            <a:prstDash val="solid"/>
          </a:ln>
        </p:spPr>
      </p:sp>
      <p:sp>
        <p:nvSpPr>
          <p:cNvPr id="11" name="edge D-E"/>
          <p:cNvSpPr/>
          <p:nvPr/>
        </p:nvSpPr>
        <p:spPr>
          <a:xfrm>
            <a:off x="8321040" y="1920240"/>
            <a:ext cx="0" cy="228600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2" name="edge E-F"/>
          <p:cNvSpPr/>
          <p:nvPr/>
        </p:nvSpPr>
        <p:spPr>
          <a:xfrm flipV="1">
            <a:off x="6272784" y="4206240"/>
            <a:ext cx="2048256" cy="365760"/>
          </a:xfrm>
          <a:prstGeom prst="line">
            <a:avLst/>
          </a:prstGeom>
          <a:noFill/>
          <a:ln w="44450">
            <a:solidFill>
              <a:schemeClr val="accent3"/>
            </a:solidFill>
            <a:prstDash val="solid"/>
          </a:ln>
        </p:spPr>
      </p:sp>
      <p:sp>
        <p:nvSpPr>
          <p:cNvPr id="13" name="weight A-B"/>
          <p:cNvSpPr txBox="1"/>
          <p:nvPr/>
        </p:nvSpPr>
        <p:spPr>
          <a:xfrm>
            <a:off x="5769864" y="244144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14" name="weight A-C"/>
          <p:cNvSpPr txBox="1"/>
          <p:nvPr/>
        </p:nvSpPr>
        <p:spPr>
          <a:xfrm>
            <a:off x="5952744" y="317296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dirty="0"/>
          </a:p>
        </p:txBody>
      </p:sp>
      <p:sp>
        <p:nvSpPr>
          <p:cNvPr id="15" name="weight A-F"/>
          <p:cNvSpPr txBox="1"/>
          <p:nvPr/>
        </p:nvSpPr>
        <p:spPr>
          <a:xfrm>
            <a:off x="5660136" y="376732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14</a:t>
            </a:r>
            <a:endParaRPr lang="en-US" sz="1200" dirty="0"/>
          </a:p>
        </p:txBody>
      </p:sp>
      <p:sp>
        <p:nvSpPr>
          <p:cNvPr id="16" name="weight B-C"/>
          <p:cNvSpPr txBox="1"/>
          <p:nvPr/>
        </p:nvSpPr>
        <p:spPr>
          <a:xfrm>
            <a:off x="6501384" y="253288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</a:t>
            </a:r>
            <a:endParaRPr lang="en-US" sz="1200" dirty="0"/>
          </a:p>
        </p:txBody>
      </p:sp>
      <p:sp>
        <p:nvSpPr>
          <p:cNvPr id="17" name="weight B-D"/>
          <p:cNvSpPr txBox="1"/>
          <p:nvPr/>
        </p:nvSpPr>
        <p:spPr>
          <a:xfrm>
            <a:off x="7232904" y="180136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</a:t>
            </a:r>
            <a:endParaRPr lang="en-US" sz="1200" dirty="0"/>
          </a:p>
        </p:txBody>
      </p:sp>
      <p:sp>
        <p:nvSpPr>
          <p:cNvPr id="18" name="weight C-D"/>
          <p:cNvSpPr txBox="1"/>
          <p:nvPr/>
        </p:nvSpPr>
        <p:spPr>
          <a:xfrm>
            <a:off x="7415784" y="253288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11</a:t>
            </a:r>
            <a:endParaRPr lang="en-US" sz="1200" dirty="0"/>
          </a:p>
        </p:txBody>
      </p:sp>
      <p:sp>
        <p:nvSpPr>
          <p:cNvPr id="19" name="weight C-F"/>
          <p:cNvSpPr txBox="1"/>
          <p:nvPr/>
        </p:nvSpPr>
        <p:spPr>
          <a:xfrm>
            <a:off x="6391656" y="385876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weight D-E"/>
          <p:cNvSpPr txBox="1"/>
          <p:nvPr/>
        </p:nvSpPr>
        <p:spPr>
          <a:xfrm>
            <a:off x="8147304" y="294436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weight E-F"/>
          <p:cNvSpPr txBox="1"/>
          <p:nvPr/>
        </p:nvSpPr>
        <p:spPr>
          <a:xfrm>
            <a:off x="7123176" y="427024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dirty="0"/>
          </a:p>
        </p:txBody>
      </p:sp>
      <p:sp>
        <p:nvSpPr>
          <p:cNvPr id="22" name="node A"/>
          <p:cNvSpPr txBox="1"/>
          <p:nvPr/>
        </p:nvSpPr>
        <p:spPr>
          <a:xfrm>
            <a:off x="5157216" y="2962656"/>
            <a:ext cx="475488" cy="47548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23" name="node B"/>
          <p:cNvSpPr txBox="1"/>
          <p:nvPr/>
        </p:nvSpPr>
        <p:spPr>
          <a:xfrm>
            <a:off x="6254496" y="1682496"/>
            <a:ext cx="475488" cy="47548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24" name="node D"/>
          <p:cNvSpPr txBox="1"/>
          <p:nvPr/>
        </p:nvSpPr>
        <p:spPr>
          <a:xfrm>
            <a:off x="8083296" y="1682496"/>
            <a:ext cx="475488" cy="47548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25" name="node C"/>
          <p:cNvSpPr txBox="1"/>
          <p:nvPr/>
        </p:nvSpPr>
        <p:spPr>
          <a:xfrm>
            <a:off x="6620256" y="3145536"/>
            <a:ext cx="475488" cy="47548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26" name="node E"/>
          <p:cNvSpPr txBox="1"/>
          <p:nvPr/>
        </p:nvSpPr>
        <p:spPr>
          <a:xfrm>
            <a:off x="8083296" y="3968496"/>
            <a:ext cx="475488" cy="47548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  <p:sp>
        <p:nvSpPr>
          <p:cNvPr id="27" name="node F"/>
          <p:cNvSpPr txBox="1"/>
          <p:nvPr/>
        </p:nvSpPr>
        <p:spPr>
          <a:xfrm>
            <a:off x="6035040" y="4334256"/>
            <a:ext cx="475488" cy="47548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Shortest Path Problem</a:t>
            </a:r>
            <a:endParaRPr lang="en-US" sz="3600" dirty="0"/>
          </a:p>
        </p:txBody>
      </p:sp>
      <p:sp>
        <p:nvSpPr>
          <p:cNvPr id="4" name="problem statement"/>
          <p:cNvSpPr txBox="1"/>
          <p:nvPr/>
        </p:nvSpPr>
        <p:spPr>
          <a:xfrm>
            <a:off x="457200" y="11887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Given a weighted graph and a start vertex, find the cheapest route from the start to every other vertex.</a:t>
            </a:r>
            <a:endParaRPr lang="en-US" sz="1600" dirty="0"/>
          </a:p>
        </p:txBody>
      </p:sp>
      <p:sp>
        <p:nvSpPr>
          <p:cNvPr id="5" name="row card Input"/>
          <p:cNvSpPr/>
          <p:nvPr/>
        </p:nvSpPr>
        <p:spPr>
          <a:xfrm>
            <a:off x="457200" y="2286000"/>
            <a:ext cx="44805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6" name="row label Input"/>
          <p:cNvSpPr txBox="1"/>
          <p:nvPr/>
        </p:nvSpPr>
        <p:spPr>
          <a:xfrm>
            <a:off x="640080" y="22860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Input</a:t>
            </a:r>
            <a:endParaRPr lang="en-US" sz="1500" dirty="0"/>
          </a:p>
        </p:txBody>
      </p:sp>
      <p:sp>
        <p:nvSpPr>
          <p:cNvPr id="7" name="row text Input"/>
          <p:cNvSpPr txBox="1"/>
          <p:nvPr/>
        </p:nvSpPr>
        <p:spPr>
          <a:xfrm>
            <a:off x="1600200" y="2286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graph whose weights are never negative</a:t>
            </a:r>
            <a:endParaRPr lang="en-US" sz="1400" dirty="0"/>
          </a:p>
        </p:txBody>
      </p:sp>
      <p:sp>
        <p:nvSpPr>
          <p:cNvPr id="8" name="row card Source"/>
          <p:cNvSpPr/>
          <p:nvPr/>
        </p:nvSpPr>
        <p:spPr>
          <a:xfrm>
            <a:off x="457200" y="3063240"/>
            <a:ext cx="44805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9" name="row label Source"/>
          <p:cNvSpPr txBox="1"/>
          <p:nvPr/>
        </p:nvSpPr>
        <p:spPr>
          <a:xfrm>
            <a:off x="640080" y="30632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Source</a:t>
            </a:r>
            <a:endParaRPr lang="en-US" sz="1500" dirty="0"/>
          </a:p>
        </p:txBody>
      </p:sp>
      <p:sp>
        <p:nvSpPr>
          <p:cNvPr id="10" name="row text Source"/>
          <p:cNvSpPr txBox="1"/>
          <p:nvPr/>
        </p:nvSpPr>
        <p:spPr>
          <a:xfrm>
            <a:off x="1600200" y="3063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starting vertex s</a:t>
            </a:r>
            <a:endParaRPr lang="en-US" sz="1400" dirty="0"/>
          </a:p>
        </p:txBody>
      </p:sp>
      <p:sp>
        <p:nvSpPr>
          <p:cNvPr id="11" name="row card Output"/>
          <p:cNvSpPr/>
          <p:nvPr/>
        </p:nvSpPr>
        <p:spPr>
          <a:xfrm>
            <a:off x="457200" y="3840480"/>
            <a:ext cx="44805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12" name="row label Output"/>
          <p:cNvSpPr txBox="1"/>
          <p:nvPr/>
        </p:nvSpPr>
        <p:spPr>
          <a:xfrm>
            <a:off x="640080" y="38404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Output</a:t>
            </a:r>
            <a:endParaRPr lang="en-US" sz="1500" dirty="0"/>
          </a:p>
        </p:txBody>
      </p:sp>
      <p:sp>
        <p:nvSpPr>
          <p:cNvPr id="13" name="row text Output"/>
          <p:cNvSpPr txBox="1"/>
          <p:nvPr/>
        </p:nvSpPr>
        <p:spPr>
          <a:xfrm>
            <a:off x="1600200" y="3840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Shortest distance dist[v] to every vertex v</a:t>
            </a:r>
            <a:endParaRPr lang="en-US" sz="1400" dirty="0"/>
          </a:p>
        </p:txBody>
      </p:sp>
      <p:sp>
        <p:nvSpPr>
          <p:cNvPr id="14" name="edge A-B"/>
          <p:cNvSpPr/>
          <p:nvPr/>
        </p:nvSpPr>
        <p:spPr>
          <a:xfrm flipV="1">
            <a:off x="5440680" y="1920240"/>
            <a:ext cx="1508760" cy="173736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15" name="edge B-C"/>
          <p:cNvSpPr/>
          <p:nvPr/>
        </p:nvSpPr>
        <p:spPr>
          <a:xfrm>
            <a:off x="6949440" y="1920240"/>
            <a:ext cx="1325880" cy="173736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16" name="edge A-C"/>
          <p:cNvSpPr/>
          <p:nvPr/>
        </p:nvSpPr>
        <p:spPr>
          <a:xfrm>
            <a:off x="5440680" y="3657600"/>
            <a:ext cx="283464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17" name="weight A-B"/>
          <p:cNvSpPr txBox="1"/>
          <p:nvPr/>
        </p:nvSpPr>
        <p:spPr>
          <a:xfrm>
            <a:off x="6021324" y="267004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weight B-C"/>
          <p:cNvSpPr txBox="1"/>
          <p:nvPr/>
        </p:nvSpPr>
        <p:spPr>
          <a:xfrm>
            <a:off x="7438644" y="267004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weight A-C"/>
          <p:cNvSpPr txBox="1"/>
          <p:nvPr/>
        </p:nvSpPr>
        <p:spPr>
          <a:xfrm>
            <a:off x="6684264" y="353872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dirty="0"/>
          </a:p>
        </p:txBody>
      </p:sp>
      <p:sp>
        <p:nvSpPr>
          <p:cNvPr id="20" name="node A"/>
          <p:cNvSpPr txBox="1"/>
          <p:nvPr/>
        </p:nvSpPr>
        <p:spPr>
          <a:xfrm>
            <a:off x="5184648" y="340156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21" name="node B"/>
          <p:cNvSpPr txBox="1"/>
          <p:nvPr/>
        </p:nvSpPr>
        <p:spPr>
          <a:xfrm>
            <a:off x="6693408" y="166420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22" name="node C"/>
          <p:cNvSpPr txBox="1"/>
          <p:nvPr/>
        </p:nvSpPr>
        <p:spPr>
          <a:xfrm>
            <a:off x="8019288" y="340156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23" name="graph caption"/>
          <p:cNvSpPr txBox="1"/>
          <p:nvPr/>
        </p:nvSpPr>
        <p:spPr>
          <a:xfrm>
            <a:off x="5212080" y="4114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Fewer edges is not always cheaper: A→B→C costs 7, but A→C costs 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Greedy Idea</a:t>
            </a:r>
            <a:endParaRPr lang="en-US" sz="3600" dirty="0"/>
          </a:p>
        </p:txBody>
      </p:sp>
      <p:sp>
        <p:nvSpPr>
          <p:cNvPr id="4" name="greedy statement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</a:rPr>
              <a:t>Always settle the closest unvisited vertex next.</a:t>
            </a:r>
            <a:endParaRPr lang="en-US" sz="2600" dirty="0"/>
          </a:p>
        </p:txBody>
      </p:sp>
      <p:sp>
        <p:nvSpPr>
          <p:cNvPr id="5" name="card Greedy choice"/>
          <p:cNvSpPr/>
          <p:nvPr/>
        </p:nvSpPr>
        <p:spPr>
          <a:xfrm>
            <a:off x="457200" y="219456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6" name="icon bg FaBolt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Bo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578608"/>
            <a:ext cx="329184" cy="329184"/>
          </a:xfrm>
          <a:prstGeom prst="rect">
            <a:avLst/>
          </a:prstGeom>
        </p:spPr>
      </p:pic>
      <p:sp>
        <p:nvSpPr>
          <p:cNvPr id="8" name="card title Greedy choice"/>
          <p:cNvSpPr txBox="1"/>
          <p:nvPr/>
        </p:nvSpPr>
        <p:spPr>
          <a:xfrm>
            <a:off x="64008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Greedy choice</a:t>
            </a:r>
            <a:endParaRPr lang="en-US" sz="1800" dirty="0"/>
          </a:p>
        </p:txBody>
      </p:sp>
      <p:sp>
        <p:nvSpPr>
          <p:cNvPr id="9" name="card text Greedy choice"/>
          <p:cNvSpPr txBox="1"/>
          <p:nvPr/>
        </p:nvSpPr>
        <p:spPr>
          <a:xfrm>
            <a:off x="64008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the unsettled vertex with the smallest tentative distance.</a:t>
            </a:r>
            <a:endParaRPr lang="en-US" sz="1400" dirty="0"/>
          </a:p>
        </p:txBody>
      </p:sp>
      <p:sp>
        <p:nvSpPr>
          <p:cNvPr id="10" name="card Relax edges"/>
          <p:cNvSpPr/>
          <p:nvPr/>
        </p:nvSpPr>
        <p:spPr>
          <a:xfrm>
            <a:off x="3246120" y="219456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11" name="icon bg FaExchangeAlt"/>
          <p:cNvSpPr/>
          <p:nvPr/>
        </p:nvSpPr>
        <p:spPr>
          <a:xfrm>
            <a:off x="3429000" y="24688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Exchange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578608"/>
            <a:ext cx="329184" cy="329184"/>
          </a:xfrm>
          <a:prstGeom prst="rect">
            <a:avLst/>
          </a:prstGeom>
        </p:spPr>
      </p:pic>
      <p:sp>
        <p:nvSpPr>
          <p:cNvPr id="13" name="card title Relax edges"/>
          <p:cNvSpPr txBox="1"/>
          <p:nvPr/>
        </p:nvSpPr>
        <p:spPr>
          <a:xfrm>
            <a:off x="34290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Relax edges</a:t>
            </a:r>
            <a:endParaRPr lang="en-US" sz="1800" dirty="0"/>
          </a:p>
        </p:txBody>
      </p:sp>
      <p:sp>
        <p:nvSpPr>
          <p:cNvPr id="14" name="card text Relax edges"/>
          <p:cNvSpPr txBox="1"/>
          <p:nvPr/>
        </p:nvSpPr>
        <p:spPr>
          <a:xfrm>
            <a:off x="342900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each neighbor: is the route through this vertex shorter?</a:t>
            </a:r>
            <a:endParaRPr lang="en-US" sz="1400" dirty="0"/>
          </a:p>
        </p:txBody>
      </p:sp>
      <p:sp>
        <p:nvSpPr>
          <p:cNvPr id="15" name="card Never look back"/>
          <p:cNvSpPr/>
          <p:nvPr/>
        </p:nvSpPr>
        <p:spPr>
          <a:xfrm>
            <a:off x="6035040" y="219456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16" name="icon bg FaCheckCircle"/>
          <p:cNvSpPr/>
          <p:nvPr/>
        </p:nvSpPr>
        <p:spPr>
          <a:xfrm>
            <a:off x="6217920" y="24688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Check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578608"/>
            <a:ext cx="329184" cy="329184"/>
          </a:xfrm>
          <a:prstGeom prst="rect">
            <a:avLst/>
          </a:prstGeom>
        </p:spPr>
      </p:pic>
      <p:sp>
        <p:nvSpPr>
          <p:cNvPr id="18" name="card title Never look back"/>
          <p:cNvSpPr txBox="1"/>
          <p:nvPr/>
        </p:nvSpPr>
        <p:spPr>
          <a:xfrm>
            <a:off x="621792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Never look back</a:t>
            </a:r>
            <a:endParaRPr lang="en-US" sz="1800" dirty="0"/>
          </a:p>
        </p:txBody>
      </p:sp>
      <p:sp>
        <p:nvSpPr>
          <p:cNvPr id="19" name="card text Never look back"/>
          <p:cNvSpPr txBox="1"/>
          <p:nvPr/>
        </p:nvSpPr>
        <p:spPr>
          <a:xfrm>
            <a:off x="621792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Once a vertex is settled, its distance is final and never revisited.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Algorithm, Step by Step</a:t>
            </a:r>
            <a:endParaRPr lang="en-US" sz="3600" dirty="0"/>
          </a:p>
        </p:txBody>
      </p:sp>
      <p:sp>
        <p:nvSpPr>
          <p:cNvPr id="4" name="badge 1"/>
          <p:cNvSpPr txBox="1"/>
          <p:nvPr/>
        </p:nvSpPr>
        <p:spPr>
          <a:xfrm>
            <a:off x="457200" y="130759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"/>
          <p:cNvSpPr txBox="1"/>
          <p:nvPr/>
        </p:nvSpPr>
        <p:spPr>
          <a:xfrm>
            <a:off x="1097280" y="123444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Initialize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dist[s] = 0 and dist[v] = ∞ for all others</a:t>
            </a:r>
            <a:endParaRPr lang="en-US" sz="1500" dirty="0"/>
          </a:p>
        </p:txBody>
      </p:sp>
      <p:sp>
        <p:nvSpPr>
          <p:cNvPr id="6" name="badge 2"/>
          <p:cNvSpPr txBox="1"/>
          <p:nvPr/>
        </p:nvSpPr>
        <p:spPr>
          <a:xfrm>
            <a:off x="457200" y="198424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step 2"/>
          <p:cNvSpPr txBox="1"/>
          <p:nvPr/>
        </p:nvSpPr>
        <p:spPr>
          <a:xfrm>
            <a:off x="1097280" y="191109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Pick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Choose the unvisited vertex u with the smallest dist</a:t>
            </a:r>
            <a:endParaRPr lang="en-US" sz="1500" dirty="0"/>
          </a:p>
        </p:txBody>
      </p:sp>
      <p:sp>
        <p:nvSpPr>
          <p:cNvPr id="8" name="badge 3"/>
          <p:cNvSpPr txBox="1"/>
          <p:nvPr/>
        </p:nvSpPr>
        <p:spPr>
          <a:xfrm>
            <a:off x="457200" y="266090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step 3"/>
          <p:cNvSpPr txBox="1"/>
          <p:nvPr/>
        </p:nvSpPr>
        <p:spPr>
          <a:xfrm>
            <a:off x="1097280" y="258775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Relax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dist[u] + w &lt; dist[v], update dist[v]</a:t>
            </a:r>
            <a:endParaRPr lang="en-US" sz="1500" dirty="0"/>
          </a:p>
        </p:txBody>
      </p:sp>
      <p:sp>
        <p:nvSpPr>
          <p:cNvPr id="10" name="badge 4"/>
          <p:cNvSpPr txBox="1"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step 4"/>
          <p:cNvSpPr txBox="1"/>
          <p:nvPr/>
        </p:nvSpPr>
        <p:spPr>
          <a:xfrm>
            <a:off x="1097280" y="326440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Mark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 u as visited. Its distance is now final</a:t>
            </a:r>
            <a:endParaRPr lang="en-US" sz="1500" dirty="0"/>
          </a:p>
        </p:txBody>
      </p:sp>
      <p:sp>
        <p:nvSpPr>
          <p:cNvPr id="12" name="badge 5"/>
          <p:cNvSpPr txBox="1"/>
          <p:nvPr/>
        </p:nvSpPr>
        <p:spPr>
          <a:xfrm>
            <a:off x="457200" y="4014216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step 5"/>
          <p:cNvSpPr txBox="1"/>
          <p:nvPr/>
        </p:nvSpPr>
        <p:spPr>
          <a:xfrm>
            <a:off x="1097280" y="394106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Repeat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 back to step 2 until every vertex is visited</a:t>
            </a:r>
            <a:endParaRPr lang="en-US" sz="1500" dirty="0"/>
          </a:p>
        </p:txBody>
      </p:sp>
      <p:sp>
        <p:nvSpPr>
          <p:cNvPr id="14" name="relaxation card"/>
          <p:cNvSpPr/>
          <p:nvPr/>
        </p:nvSpPr>
        <p:spPr>
          <a:xfrm>
            <a:off x="6400800" y="1234440"/>
            <a:ext cx="2286000" cy="329184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15" name="relaxation title"/>
          <p:cNvSpPr txBox="1"/>
          <p:nvPr/>
        </p:nvSpPr>
        <p:spPr>
          <a:xfrm>
            <a:off x="658368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Relaxation</a:t>
            </a:r>
            <a:endParaRPr lang="en-US" sz="1600" dirty="0"/>
          </a:p>
        </p:txBody>
      </p:sp>
      <p:sp>
        <p:nvSpPr>
          <p:cNvPr id="16" name="relax arrow"/>
          <p:cNvSpPr/>
          <p:nvPr/>
        </p:nvSpPr>
        <p:spPr>
          <a:xfrm>
            <a:off x="7040880" y="2395728"/>
            <a:ext cx="0" cy="932688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node u"/>
          <p:cNvSpPr txBox="1"/>
          <p:nvPr/>
        </p:nvSpPr>
        <p:spPr>
          <a:xfrm>
            <a:off x="6784848" y="184708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</a:t>
            </a:r>
            <a:endParaRPr lang="en-US" sz="1600" dirty="0"/>
          </a:p>
        </p:txBody>
      </p:sp>
      <p:sp>
        <p:nvSpPr>
          <p:cNvPr id="18" name="node v"/>
          <p:cNvSpPr txBox="1"/>
          <p:nvPr/>
        </p:nvSpPr>
        <p:spPr>
          <a:xfrm>
            <a:off x="6784848" y="335584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</a:t>
            </a:r>
            <a:endParaRPr lang="en-US" sz="1600" dirty="0"/>
          </a:p>
        </p:txBody>
      </p:sp>
      <p:sp>
        <p:nvSpPr>
          <p:cNvPr id="19" name="u dist"/>
          <p:cNvSpPr txBox="1"/>
          <p:nvPr/>
        </p:nvSpPr>
        <p:spPr>
          <a:xfrm>
            <a:off x="740664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dist = 9</a:t>
            </a:r>
            <a:endParaRPr lang="en-US" sz="1400" dirty="0"/>
          </a:p>
        </p:txBody>
      </p:sp>
      <p:sp>
        <p:nvSpPr>
          <p:cNvPr id="20" name="edge weight note"/>
          <p:cNvSpPr txBox="1"/>
          <p:nvPr/>
        </p:nvSpPr>
        <p:spPr>
          <a:xfrm>
            <a:off x="7223760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 = 2</a:t>
            </a:r>
            <a:endParaRPr lang="en-US" sz="1400" dirty="0"/>
          </a:p>
        </p:txBody>
      </p:sp>
      <p:sp>
        <p:nvSpPr>
          <p:cNvPr id="21" name="v dist"/>
          <p:cNvSpPr txBox="1"/>
          <p:nvPr/>
        </p:nvSpPr>
        <p:spPr>
          <a:xfrm>
            <a:off x="7406640" y="3383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old: 14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new: 11</a:t>
            </a:r>
            <a:endParaRPr lang="en-US" sz="1400" dirty="0"/>
          </a:p>
        </p:txBody>
      </p:sp>
      <p:sp>
        <p:nvSpPr>
          <p:cNvPr id="22" name="relax caption"/>
          <p:cNvSpPr txBox="1"/>
          <p:nvPr/>
        </p:nvSpPr>
        <p:spPr>
          <a:xfrm>
            <a:off x="6583680" y="4023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+ 2 = 11 &lt; 14, so update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Worked Example: The Graph</a:t>
            </a:r>
            <a:endParaRPr lang="en-US" sz="3600" dirty="0"/>
          </a:p>
        </p:txBody>
      </p:sp>
      <p:sp>
        <p:nvSpPr>
          <p:cNvPr id="4" name="edge A-B"/>
          <p:cNvSpPr/>
          <p:nvPr/>
        </p:nvSpPr>
        <p:spPr>
          <a:xfrm flipV="1">
            <a:off x="914400" y="1645920"/>
            <a:ext cx="1371600" cy="128016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5" name="edge A-C"/>
          <p:cNvSpPr/>
          <p:nvPr/>
        </p:nvSpPr>
        <p:spPr>
          <a:xfrm>
            <a:off x="914400" y="2926080"/>
            <a:ext cx="1828800" cy="18288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6" name="edge A-F"/>
          <p:cNvSpPr/>
          <p:nvPr/>
        </p:nvSpPr>
        <p:spPr>
          <a:xfrm>
            <a:off x="914400" y="2926080"/>
            <a:ext cx="1097280" cy="137160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7" name="edge B-C"/>
          <p:cNvSpPr/>
          <p:nvPr/>
        </p:nvSpPr>
        <p:spPr>
          <a:xfrm>
            <a:off x="2286000" y="1645920"/>
            <a:ext cx="457200" cy="146304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8" name="edge B-D"/>
          <p:cNvSpPr/>
          <p:nvPr/>
        </p:nvSpPr>
        <p:spPr>
          <a:xfrm>
            <a:off x="2286000" y="1645920"/>
            <a:ext cx="228600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9" name="edge C-D"/>
          <p:cNvSpPr/>
          <p:nvPr/>
        </p:nvSpPr>
        <p:spPr>
          <a:xfrm flipV="1">
            <a:off x="2743200" y="1645920"/>
            <a:ext cx="1828800" cy="146304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10" name="edge C-F"/>
          <p:cNvSpPr/>
          <p:nvPr/>
        </p:nvSpPr>
        <p:spPr>
          <a:xfrm flipV="1">
            <a:off x="2011680" y="3108960"/>
            <a:ext cx="731520" cy="118872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11" name="edge D-E"/>
          <p:cNvSpPr/>
          <p:nvPr/>
        </p:nvSpPr>
        <p:spPr>
          <a:xfrm>
            <a:off x="4572000" y="1645920"/>
            <a:ext cx="0" cy="228600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12" name="edge E-F"/>
          <p:cNvSpPr/>
          <p:nvPr/>
        </p:nvSpPr>
        <p:spPr>
          <a:xfrm flipV="1">
            <a:off x="2011680" y="3931920"/>
            <a:ext cx="2560320" cy="36576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13" name="weight A-B"/>
          <p:cNvSpPr txBox="1"/>
          <p:nvPr/>
        </p:nvSpPr>
        <p:spPr>
          <a:xfrm>
            <a:off x="1426464" y="216712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14" name="weight A-C"/>
          <p:cNvSpPr txBox="1"/>
          <p:nvPr/>
        </p:nvSpPr>
        <p:spPr>
          <a:xfrm>
            <a:off x="1655064" y="289864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dirty="0"/>
          </a:p>
        </p:txBody>
      </p:sp>
      <p:sp>
        <p:nvSpPr>
          <p:cNvPr id="15" name="weight A-F"/>
          <p:cNvSpPr txBox="1"/>
          <p:nvPr/>
        </p:nvSpPr>
        <p:spPr>
          <a:xfrm>
            <a:off x="1289304" y="349300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14</a:t>
            </a:r>
            <a:endParaRPr lang="en-US" sz="1200" dirty="0"/>
          </a:p>
        </p:txBody>
      </p:sp>
      <p:sp>
        <p:nvSpPr>
          <p:cNvPr id="16" name="weight B-C"/>
          <p:cNvSpPr txBox="1"/>
          <p:nvPr/>
        </p:nvSpPr>
        <p:spPr>
          <a:xfrm>
            <a:off x="2340864" y="225856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</a:t>
            </a:r>
            <a:endParaRPr lang="en-US" sz="1200" dirty="0"/>
          </a:p>
        </p:txBody>
      </p:sp>
      <p:sp>
        <p:nvSpPr>
          <p:cNvPr id="17" name="weight B-D"/>
          <p:cNvSpPr txBox="1"/>
          <p:nvPr/>
        </p:nvSpPr>
        <p:spPr>
          <a:xfrm>
            <a:off x="3255264" y="152704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</a:t>
            </a:r>
            <a:endParaRPr lang="en-US" sz="1200" dirty="0"/>
          </a:p>
        </p:txBody>
      </p:sp>
      <p:sp>
        <p:nvSpPr>
          <p:cNvPr id="18" name="weight C-D"/>
          <p:cNvSpPr txBox="1"/>
          <p:nvPr/>
        </p:nvSpPr>
        <p:spPr>
          <a:xfrm>
            <a:off x="3483864" y="225856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11</a:t>
            </a:r>
            <a:endParaRPr lang="en-US" sz="1200" dirty="0"/>
          </a:p>
        </p:txBody>
      </p:sp>
      <p:sp>
        <p:nvSpPr>
          <p:cNvPr id="19" name="weight C-F"/>
          <p:cNvSpPr txBox="1"/>
          <p:nvPr/>
        </p:nvSpPr>
        <p:spPr>
          <a:xfrm>
            <a:off x="2203704" y="358444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weight D-E"/>
          <p:cNvSpPr txBox="1"/>
          <p:nvPr/>
        </p:nvSpPr>
        <p:spPr>
          <a:xfrm>
            <a:off x="4398264" y="267004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weight E-F"/>
          <p:cNvSpPr txBox="1"/>
          <p:nvPr/>
        </p:nvSpPr>
        <p:spPr>
          <a:xfrm>
            <a:off x="3118104" y="399592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dirty="0"/>
          </a:p>
        </p:txBody>
      </p:sp>
      <p:sp>
        <p:nvSpPr>
          <p:cNvPr id="22" name="node A"/>
          <p:cNvSpPr txBox="1"/>
          <p:nvPr/>
        </p:nvSpPr>
        <p:spPr>
          <a:xfrm>
            <a:off x="658368" y="267004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23" name="node B"/>
          <p:cNvSpPr txBox="1"/>
          <p:nvPr/>
        </p:nvSpPr>
        <p:spPr>
          <a:xfrm>
            <a:off x="2029968" y="138988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24" name="node D"/>
          <p:cNvSpPr txBox="1"/>
          <p:nvPr/>
        </p:nvSpPr>
        <p:spPr>
          <a:xfrm>
            <a:off x="4315968" y="138988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25" name="node C"/>
          <p:cNvSpPr txBox="1"/>
          <p:nvPr/>
        </p:nvSpPr>
        <p:spPr>
          <a:xfrm>
            <a:off x="2487168" y="285292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26" name="node E"/>
          <p:cNvSpPr txBox="1"/>
          <p:nvPr/>
        </p:nvSpPr>
        <p:spPr>
          <a:xfrm>
            <a:off x="4315968" y="367588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  <p:sp>
        <p:nvSpPr>
          <p:cNvPr id="27" name="node F"/>
          <p:cNvSpPr txBox="1"/>
          <p:nvPr/>
        </p:nvSpPr>
        <p:spPr>
          <a:xfrm>
            <a:off x="1755648" y="404164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</a:t>
            </a:r>
            <a:endParaRPr lang="en-US" sz="1600" dirty="0"/>
          </a:p>
        </p:txBody>
      </p:sp>
      <p:sp>
        <p:nvSpPr>
          <p:cNvPr id="28" name="task label"/>
          <p:cNvSpPr txBox="1"/>
          <p:nvPr/>
        </p:nvSpPr>
        <p:spPr>
          <a:xfrm>
            <a:off x="5486400" y="1234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TASK</a:t>
            </a:r>
            <a:endParaRPr lang="en-US" sz="1100" dirty="0"/>
          </a:p>
        </p:txBody>
      </p:sp>
      <p:sp>
        <p:nvSpPr>
          <p:cNvPr id="29" name="task text"/>
          <p:cNvSpPr txBox="1"/>
          <p:nvPr/>
        </p:nvSpPr>
        <p:spPr>
          <a:xfrm>
            <a:off x="5486400" y="1508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 the shortest distance from A to every other vertex.</a:t>
            </a:r>
            <a:endParaRPr lang="en-US" sz="1600" dirty="0"/>
          </a:p>
        </p:txBody>
      </p:sp>
      <p:sp>
        <p:nvSpPr>
          <p:cNvPr id="30" name="edge list card"/>
          <p:cNvSpPr/>
          <p:nvPr/>
        </p:nvSpPr>
        <p:spPr>
          <a:xfrm>
            <a:off x="5486400" y="2423160"/>
            <a:ext cx="320040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31" name="edge list title"/>
          <p:cNvSpPr txBox="1"/>
          <p:nvPr/>
        </p:nvSpPr>
        <p:spPr>
          <a:xfrm>
            <a:off x="5669280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Edge list (undirected)</a:t>
            </a:r>
            <a:endParaRPr lang="en-US" sz="1400" dirty="0"/>
          </a:p>
        </p:txBody>
      </p:sp>
      <p:sp>
        <p:nvSpPr>
          <p:cNvPr id="32" name="edges col 1"/>
          <p:cNvSpPr txBox="1"/>
          <p:nvPr/>
        </p:nvSpPr>
        <p:spPr>
          <a:xfrm>
            <a:off x="5669280" y="288036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– B : 7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– C : 9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– F : 14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 – C : 10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 – D : 15</a:t>
            </a:r>
            <a:endParaRPr lang="en-US" sz="1400" dirty="0"/>
          </a:p>
        </p:txBody>
      </p:sp>
      <p:sp>
        <p:nvSpPr>
          <p:cNvPr id="33" name="edges col 2"/>
          <p:cNvSpPr txBox="1"/>
          <p:nvPr/>
        </p:nvSpPr>
        <p:spPr>
          <a:xfrm>
            <a:off x="7178040" y="288036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 – D : 11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 – F : 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 – E : 6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 – F : 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Step-by-Step Trace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40080"/>
                <a:gridCol w="566928"/>
                <a:gridCol w="566928"/>
                <a:gridCol w="566928"/>
                <a:gridCol w="566928"/>
                <a:gridCol w="566928"/>
                <a:gridCol w="566928"/>
                <a:gridCol w="400507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Settle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happened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Start: A = 0, everything else 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Relax B, C, 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22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B→D = 22 (B→C = 17 is worse)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C→D = 20 and C→F = 11 both improve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F→E = 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D→E = 26, no improvement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All vertices settled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able legend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Orange = changed in this step.  Bold teal = settled (final).  Ties (D and E both 20) can be settled in either order.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Final Distances from A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75488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aths title"/>
          <p:cNvSpPr txBox="1"/>
          <p:nvPr/>
        </p:nvSpPr>
        <p:spPr>
          <a:xfrm>
            <a:off x="54864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Shortest paths from A</a:t>
            </a:r>
            <a:endParaRPr lang="en-US" sz="1600" dirty="0"/>
          </a:p>
        </p:txBody>
      </p:sp>
      <p:sp>
        <p:nvSpPr>
          <p:cNvPr id="6" name="badge B"/>
          <p:cNvSpPr txBox="1"/>
          <p:nvPr/>
        </p:nvSpPr>
        <p:spPr>
          <a:xfrm>
            <a:off x="5486400" y="169164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7" name="path B"/>
          <p:cNvSpPr txBox="1"/>
          <p:nvPr/>
        </p:nvSpPr>
        <p:spPr>
          <a:xfrm>
            <a:off x="603504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→ B</a:t>
            </a:r>
            <a:endParaRPr lang="en-US" sz="1500" dirty="0"/>
          </a:p>
        </p:txBody>
      </p:sp>
      <p:sp>
        <p:nvSpPr>
          <p:cNvPr id="8" name="cost B"/>
          <p:cNvSpPr txBox="1"/>
          <p:nvPr/>
        </p:nvSpPr>
        <p:spPr>
          <a:xfrm>
            <a:off x="7955280" y="16916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= 7</a:t>
            </a:r>
            <a:endParaRPr lang="en-US" sz="1500" dirty="0"/>
          </a:p>
        </p:txBody>
      </p:sp>
      <p:sp>
        <p:nvSpPr>
          <p:cNvPr id="9" name="badge C"/>
          <p:cNvSpPr txBox="1"/>
          <p:nvPr/>
        </p:nvSpPr>
        <p:spPr>
          <a:xfrm>
            <a:off x="5486400" y="216712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0" name="path C"/>
          <p:cNvSpPr txBox="1"/>
          <p:nvPr/>
        </p:nvSpPr>
        <p:spPr>
          <a:xfrm>
            <a:off x="6035040" y="2167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→ C</a:t>
            </a:r>
            <a:endParaRPr lang="en-US" sz="1500" dirty="0"/>
          </a:p>
        </p:txBody>
      </p:sp>
      <p:sp>
        <p:nvSpPr>
          <p:cNvPr id="11" name="cost C"/>
          <p:cNvSpPr txBox="1"/>
          <p:nvPr/>
        </p:nvSpPr>
        <p:spPr>
          <a:xfrm>
            <a:off x="7955280" y="216712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= 9</a:t>
            </a:r>
            <a:endParaRPr lang="en-US" sz="1500" dirty="0"/>
          </a:p>
        </p:txBody>
      </p:sp>
      <p:sp>
        <p:nvSpPr>
          <p:cNvPr id="12" name="badge F"/>
          <p:cNvSpPr txBox="1"/>
          <p:nvPr/>
        </p:nvSpPr>
        <p:spPr>
          <a:xfrm>
            <a:off x="5486400" y="264261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</a:t>
            </a:r>
            <a:endParaRPr lang="en-US" sz="1600" dirty="0"/>
          </a:p>
        </p:txBody>
      </p:sp>
      <p:sp>
        <p:nvSpPr>
          <p:cNvPr id="13" name="path F"/>
          <p:cNvSpPr txBox="1"/>
          <p:nvPr/>
        </p:nvSpPr>
        <p:spPr>
          <a:xfrm>
            <a:off x="6035040" y="2642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→ C → F</a:t>
            </a:r>
            <a:endParaRPr lang="en-US" sz="1500" dirty="0"/>
          </a:p>
        </p:txBody>
      </p:sp>
      <p:sp>
        <p:nvSpPr>
          <p:cNvPr id="14" name="cost F"/>
          <p:cNvSpPr txBox="1"/>
          <p:nvPr/>
        </p:nvSpPr>
        <p:spPr>
          <a:xfrm>
            <a:off x="7955280" y="26426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= 11</a:t>
            </a:r>
            <a:endParaRPr lang="en-US" sz="1500" dirty="0"/>
          </a:p>
        </p:txBody>
      </p:sp>
      <p:sp>
        <p:nvSpPr>
          <p:cNvPr id="15" name="badge D"/>
          <p:cNvSpPr txBox="1"/>
          <p:nvPr/>
        </p:nvSpPr>
        <p:spPr>
          <a:xfrm>
            <a:off x="5486400" y="31181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6" name="path D"/>
          <p:cNvSpPr txBox="1"/>
          <p:nvPr/>
        </p:nvSpPr>
        <p:spPr>
          <a:xfrm>
            <a:off x="6035040" y="3118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→ C → D</a:t>
            </a:r>
            <a:endParaRPr lang="en-US" sz="1500" dirty="0"/>
          </a:p>
        </p:txBody>
      </p:sp>
      <p:sp>
        <p:nvSpPr>
          <p:cNvPr id="17" name="cost D"/>
          <p:cNvSpPr txBox="1"/>
          <p:nvPr/>
        </p:nvSpPr>
        <p:spPr>
          <a:xfrm>
            <a:off x="7955280" y="311810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= 20</a:t>
            </a:r>
            <a:endParaRPr lang="en-US" sz="1500" dirty="0"/>
          </a:p>
        </p:txBody>
      </p:sp>
      <p:sp>
        <p:nvSpPr>
          <p:cNvPr id="18" name="badge E"/>
          <p:cNvSpPr txBox="1"/>
          <p:nvPr/>
        </p:nvSpPr>
        <p:spPr>
          <a:xfrm>
            <a:off x="5486400" y="359359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  <p:sp>
        <p:nvSpPr>
          <p:cNvPr id="19" name="path E"/>
          <p:cNvSpPr txBox="1"/>
          <p:nvPr/>
        </p:nvSpPr>
        <p:spPr>
          <a:xfrm>
            <a:off x="6035040" y="35935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→ C → F → E</a:t>
            </a:r>
            <a:endParaRPr lang="en-US" sz="1500" dirty="0"/>
          </a:p>
        </p:txBody>
      </p:sp>
      <p:sp>
        <p:nvSpPr>
          <p:cNvPr id="20" name="cost E"/>
          <p:cNvSpPr txBox="1"/>
          <p:nvPr/>
        </p:nvSpPr>
        <p:spPr>
          <a:xfrm>
            <a:off x="7955280" y="35935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= 20</a:t>
            </a:r>
            <a:endParaRPr lang="en-US" sz="1500" dirty="0"/>
          </a:p>
        </p:txBody>
      </p:sp>
      <p:sp>
        <p:nvSpPr>
          <p:cNvPr id="21" name="insight card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22" name="insight text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Notice: A→F directly costs 14, but A→C→F costs only 11.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Example 2: Detour Wins</a:t>
            </a:r>
            <a:endParaRPr lang="en-US" sz="3600" dirty="0"/>
          </a:p>
        </p:txBody>
      </p:sp>
      <p:sp>
        <p:nvSpPr>
          <p:cNvPr id="4" name="edge S-A"/>
          <p:cNvSpPr/>
          <p:nvPr/>
        </p:nvSpPr>
        <p:spPr>
          <a:xfrm flipV="1">
            <a:off x="914400" y="1737360"/>
            <a:ext cx="1828800" cy="118872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5" name="edge S-B"/>
          <p:cNvSpPr/>
          <p:nvPr/>
        </p:nvSpPr>
        <p:spPr>
          <a:xfrm>
            <a:off x="914400" y="2926080"/>
            <a:ext cx="1828800" cy="109728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6" name="edge A-B"/>
          <p:cNvSpPr/>
          <p:nvPr/>
        </p:nvSpPr>
        <p:spPr>
          <a:xfrm>
            <a:off x="2743200" y="1737360"/>
            <a:ext cx="0" cy="228600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7" name="edge A-T"/>
          <p:cNvSpPr/>
          <p:nvPr/>
        </p:nvSpPr>
        <p:spPr>
          <a:xfrm>
            <a:off x="2743200" y="1737360"/>
            <a:ext cx="1828800" cy="118872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8" name="edge B-T"/>
          <p:cNvSpPr/>
          <p:nvPr/>
        </p:nvSpPr>
        <p:spPr>
          <a:xfrm flipV="1">
            <a:off x="2743200" y="2926080"/>
            <a:ext cx="1828800" cy="109728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9" name="weight S-A"/>
          <p:cNvSpPr txBox="1"/>
          <p:nvPr/>
        </p:nvSpPr>
        <p:spPr>
          <a:xfrm>
            <a:off x="1655064" y="221284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0" name="weight S-B"/>
          <p:cNvSpPr txBox="1"/>
          <p:nvPr/>
        </p:nvSpPr>
        <p:spPr>
          <a:xfrm>
            <a:off x="1655064" y="335584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weight A-B"/>
          <p:cNvSpPr txBox="1"/>
          <p:nvPr/>
        </p:nvSpPr>
        <p:spPr>
          <a:xfrm>
            <a:off x="2569464" y="276148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weight A-T"/>
          <p:cNvSpPr txBox="1"/>
          <p:nvPr/>
        </p:nvSpPr>
        <p:spPr>
          <a:xfrm>
            <a:off x="3483864" y="221284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weight B-T"/>
          <p:cNvSpPr txBox="1"/>
          <p:nvPr/>
        </p:nvSpPr>
        <p:spPr>
          <a:xfrm>
            <a:off x="3483864" y="335584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node S"/>
          <p:cNvSpPr txBox="1"/>
          <p:nvPr/>
        </p:nvSpPr>
        <p:spPr>
          <a:xfrm>
            <a:off x="658368" y="267004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</a:t>
            </a:r>
            <a:endParaRPr lang="en-US" sz="1600" dirty="0"/>
          </a:p>
        </p:txBody>
      </p:sp>
      <p:sp>
        <p:nvSpPr>
          <p:cNvPr id="15" name="node A"/>
          <p:cNvSpPr txBox="1"/>
          <p:nvPr/>
        </p:nvSpPr>
        <p:spPr>
          <a:xfrm>
            <a:off x="2487168" y="148132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6" name="node B"/>
          <p:cNvSpPr txBox="1"/>
          <p:nvPr/>
        </p:nvSpPr>
        <p:spPr>
          <a:xfrm>
            <a:off x="2487168" y="376732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7" name="node T"/>
          <p:cNvSpPr txBox="1"/>
          <p:nvPr/>
        </p:nvSpPr>
        <p:spPr>
          <a:xfrm>
            <a:off x="4315968" y="267004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</a:t>
            </a:r>
            <a:endParaRPr lang="en-US" sz="1600" dirty="0"/>
          </a:p>
        </p:txBody>
      </p:sp>
      <p:sp>
        <p:nvSpPr>
          <p:cNvPr id="18" name="badge 1"/>
          <p:cNvSpPr txBox="1"/>
          <p:nvPr/>
        </p:nvSpPr>
        <p:spPr>
          <a:xfrm>
            <a:off x="5413248" y="136245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trace step 1"/>
          <p:cNvSpPr txBox="1"/>
          <p:nvPr/>
        </p:nvSpPr>
        <p:spPr>
          <a:xfrm>
            <a:off x="5989320" y="1280160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at S = 0. Relax A = 4 and B = 1.</a:t>
            </a:r>
            <a:endParaRPr lang="en-US" sz="1400" dirty="0"/>
          </a:p>
        </p:txBody>
      </p:sp>
      <p:sp>
        <p:nvSpPr>
          <p:cNvPr id="20" name="badge 2"/>
          <p:cNvSpPr txBox="1"/>
          <p:nvPr/>
        </p:nvSpPr>
        <p:spPr>
          <a:xfrm>
            <a:off x="5413248" y="207568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race step 2"/>
          <p:cNvSpPr txBox="1"/>
          <p:nvPr/>
        </p:nvSpPr>
        <p:spPr>
          <a:xfrm>
            <a:off x="5989320" y="199339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Settle B (1). A drops to 3, T = 6.</a:t>
            </a:r>
            <a:endParaRPr lang="en-US" sz="1400" dirty="0"/>
          </a:p>
        </p:txBody>
      </p:sp>
      <p:sp>
        <p:nvSpPr>
          <p:cNvPr id="22" name="badge 3"/>
          <p:cNvSpPr txBox="1"/>
          <p:nvPr/>
        </p:nvSpPr>
        <p:spPr>
          <a:xfrm>
            <a:off x="5413248" y="278892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race step 3"/>
          <p:cNvSpPr txBox="1"/>
          <p:nvPr/>
        </p:nvSpPr>
        <p:spPr>
          <a:xfrm>
            <a:off x="5989320" y="2706624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Settle A (3). T improves 6 → 4.</a:t>
            </a:r>
            <a:endParaRPr lang="en-US" sz="1400" dirty="0"/>
          </a:p>
        </p:txBody>
      </p:sp>
      <p:sp>
        <p:nvSpPr>
          <p:cNvPr id="24" name="badge 4"/>
          <p:cNvSpPr txBox="1"/>
          <p:nvPr/>
        </p:nvSpPr>
        <p:spPr>
          <a:xfrm>
            <a:off x="5413248" y="3502152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race step 4"/>
          <p:cNvSpPr txBox="1"/>
          <p:nvPr/>
        </p:nvSpPr>
        <p:spPr>
          <a:xfrm>
            <a:off x="5989320" y="341985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Settle T (4). Done.</a:t>
            </a:r>
            <a:endParaRPr lang="en-US" sz="1400" dirty="0"/>
          </a:p>
        </p:txBody>
      </p:sp>
      <p:sp>
        <p:nvSpPr>
          <p:cNvPr id="26" name="answer card"/>
          <p:cNvSpPr/>
          <p:nvPr/>
        </p:nvSpPr>
        <p:spPr>
          <a:xfrm>
            <a:off x="5394960" y="4206240"/>
            <a:ext cx="32918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7" name="answer text"/>
          <p:cNvSpPr txBox="1"/>
          <p:nvPr/>
        </p:nvSpPr>
        <p:spPr>
          <a:xfrm>
            <a:off x="539496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Answer: S → B → A → T, cost 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 Code: Helper Function</a:t>
            </a:r>
            <a:endParaRPr lang="en-US" sz="3600" dirty="0"/>
          </a:p>
        </p:txBody>
      </p:sp>
      <p:sp>
        <p:nvSpPr>
          <p:cNvPr id="4" name="code panel"/>
          <p:cNvSpPr/>
          <p:nvPr/>
        </p:nvSpPr>
        <p:spPr>
          <a:xfrm>
            <a:off x="457200" y="1188720"/>
            <a:ext cx="5394960" cy="34290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640080" y="1325880"/>
            <a:ext cx="5029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V 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INF 1000000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minDistance(int dist[], int vis[])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min = INF, idx = -1;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v = 0; v &lt; V; v++)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(!vis[v] &amp;&amp; dist[v] &lt;= min)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min = dist[v];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idx = v;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idx;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code key 0"/>
          <p:cNvSpPr txBox="1"/>
          <p:nvPr/>
        </p:nvSpPr>
        <p:spPr>
          <a:xfrm>
            <a:off x="6126480" y="1188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vis[v]</a:t>
            </a:r>
            <a:endParaRPr lang="en-US" sz="1200" dirty="0"/>
          </a:p>
        </p:txBody>
      </p:sp>
      <p:sp>
        <p:nvSpPr>
          <p:cNvPr id="7" name="code note 0"/>
          <p:cNvSpPr txBox="1"/>
          <p:nvPr/>
        </p:nvSpPr>
        <p:spPr>
          <a:xfrm>
            <a:off x="6126480" y="1444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Marks vertices that are already settled.</a:t>
            </a:r>
            <a:endParaRPr lang="en-US" sz="1400" dirty="0"/>
          </a:p>
        </p:txBody>
      </p:sp>
      <p:sp>
        <p:nvSpPr>
          <p:cNvPr id="8" name="code key 1"/>
          <p:cNvSpPr txBox="1"/>
          <p:nvPr/>
        </p:nvSpPr>
        <p:spPr>
          <a:xfrm>
            <a:off x="6126480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minDistance</a:t>
            </a:r>
            <a:endParaRPr lang="en-US" sz="1200" dirty="0"/>
          </a:p>
        </p:txBody>
      </p:sp>
      <p:sp>
        <p:nvSpPr>
          <p:cNvPr id="9" name="code note 1"/>
          <p:cNvSpPr txBox="1"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greedy choice: closest unvisited vertex.</a:t>
            </a:r>
            <a:endParaRPr lang="en-US" sz="1400" dirty="0"/>
          </a:p>
        </p:txBody>
      </p:sp>
      <p:sp>
        <p:nvSpPr>
          <p:cNvPr id="10" name="matrix card"/>
          <p:cNvSpPr/>
          <p:nvPr/>
        </p:nvSpPr>
        <p:spPr>
          <a:xfrm>
            <a:off x="6126480" y="2743200"/>
            <a:ext cx="256032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11" name="matrix label"/>
          <p:cNvSpPr txBox="1"/>
          <p:nvPr/>
        </p:nvSpPr>
        <p:spPr>
          <a:xfrm>
            <a:off x="6263640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Example 1 as a matrix</a:t>
            </a:r>
            <a:endParaRPr lang="en-US" sz="1200" dirty="0"/>
          </a:p>
        </p:txBody>
      </p:sp>
      <p:sp>
        <p:nvSpPr>
          <p:cNvPr id="12" name="matrix text"/>
          <p:cNvSpPr txBox="1"/>
          <p:nvPr/>
        </p:nvSpPr>
        <p:spPr>
          <a:xfrm>
            <a:off x="6263640" y="312724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0  7  9  0  0 14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 7  0 10 15  0 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9 10  0 11  0 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D: 0 15 11  0  6 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E: 0  0  0  6  0  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F:14  0  2  0  9 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 Code: Dijkstra Function</a:t>
            </a:r>
            <a:endParaRPr lang="en-US" sz="3600" dirty="0"/>
          </a:p>
        </p:txBody>
      </p:sp>
      <p:sp>
        <p:nvSpPr>
          <p:cNvPr id="4" name="code panel"/>
          <p:cNvSpPr/>
          <p:nvPr/>
        </p:nvSpPr>
        <p:spPr>
          <a:xfrm>
            <a:off x="457200" y="1188720"/>
            <a:ext cx="5394960" cy="34290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640080" y="1325880"/>
            <a:ext cx="5029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dijkstra(int g[V][V], int src)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dist[V], vis[V] = {0};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V; i++) dist[i] = INF;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dist[src]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c = 0; c &lt; V - 1; c++)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u = minDistance(dist, vis);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vis[u] = 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v = 0; v &lt; V; v++)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(!vis[v] &amp;&amp; g[u][v] &amp;&amp;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dist[u] + g[u][v] &lt; dist[v])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dist[v] = dist[u] + g[u][v];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V; i++)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printf("%c = %d\n", 'A' + i, dist[i]);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code key 0"/>
          <p:cNvSpPr txBox="1"/>
          <p:nvPr/>
        </p:nvSpPr>
        <p:spPr>
          <a:xfrm>
            <a:off x="6126480" y="1188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&lt; V - 1</a:t>
            </a:r>
            <a:endParaRPr lang="en-US" sz="1200" dirty="0"/>
          </a:p>
        </p:txBody>
      </p:sp>
      <p:sp>
        <p:nvSpPr>
          <p:cNvPr id="7" name="code note 0"/>
          <p:cNvSpPr txBox="1"/>
          <p:nvPr/>
        </p:nvSpPr>
        <p:spPr>
          <a:xfrm>
            <a:off x="6126480" y="1444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Runs V - 1 times. The last vertex settles itself.</a:t>
            </a:r>
            <a:endParaRPr lang="en-US" sz="1400" dirty="0"/>
          </a:p>
        </p:txBody>
      </p:sp>
      <p:sp>
        <p:nvSpPr>
          <p:cNvPr id="8" name="code key 1"/>
          <p:cNvSpPr txBox="1"/>
          <p:nvPr/>
        </p:nvSpPr>
        <p:spPr>
          <a:xfrm>
            <a:off x="6126480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dist[u] + g[u][v]</a:t>
            </a:r>
            <a:endParaRPr lang="en-US" sz="1200" dirty="0"/>
          </a:p>
        </p:txBody>
      </p:sp>
      <p:sp>
        <p:nvSpPr>
          <p:cNvPr id="9" name="code note 1"/>
          <p:cNvSpPr txBox="1"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relaxation test from step 3.</a:t>
            </a:r>
            <a:endParaRPr lang="en-US" sz="1400" dirty="0"/>
          </a:p>
        </p:txBody>
      </p:sp>
      <p:sp>
        <p:nvSpPr>
          <p:cNvPr id="10" name="output card"/>
          <p:cNvSpPr/>
          <p:nvPr/>
        </p:nvSpPr>
        <p:spPr>
          <a:xfrm>
            <a:off x="6126480" y="2743200"/>
            <a:ext cx="256032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11" name="output label"/>
          <p:cNvSpPr txBox="1"/>
          <p:nvPr/>
        </p:nvSpPr>
        <p:spPr>
          <a:xfrm>
            <a:off x="6263640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Output for Example 1</a:t>
            </a:r>
            <a:endParaRPr lang="en-US" sz="1200" dirty="0"/>
          </a:p>
        </p:txBody>
      </p:sp>
      <p:sp>
        <p:nvSpPr>
          <p:cNvPr id="12" name="output text"/>
          <p:cNvSpPr txBox="1"/>
          <p:nvPr/>
        </p:nvSpPr>
        <p:spPr>
          <a:xfrm>
            <a:off x="6263640" y="312724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11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Time Complexity</a:t>
            </a:r>
            <a:endParaRPr lang="en-US" sz="3600" dirty="0"/>
          </a:p>
        </p:txBody>
      </p:sp>
      <p:sp>
        <p:nvSpPr>
          <p:cNvPr id="4" name="complexity card Simple array"/>
          <p:cNvSpPr/>
          <p:nvPr/>
        </p:nvSpPr>
        <p:spPr>
          <a:xfrm>
            <a:off x="457200" y="1280160"/>
            <a:ext cx="2651760" cy="269748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5" name="complexity name Simple array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Simple array</a:t>
            </a:r>
            <a:endParaRPr lang="en-US" sz="1600" dirty="0"/>
          </a:p>
        </p:txBody>
      </p:sp>
      <p:sp>
        <p:nvSpPr>
          <p:cNvPr id="6" name="complexity big-o Simple array"/>
          <p:cNvSpPr txBox="1"/>
          <p:nvPr/>
        </p:nvSpPr>
        <p:spPr>
          <a:xfrm>
            <a:off x="640080" y="1828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O(V²)</a:t>
            </a:r>
            <a:endParaRPr lang="en-US" sz="2000" dirty="0"/>
          </a:p>
        </p:txBody>
      </p:sp>
      <p:sp>
        <p:nvSpPr>
          <p:cNvPr id="7" name="complexity text Simple array"/>
          <p:cNvSpPr txBox="1"/>
          <p:nvPr/>
        </p:nvSpPr>
        <p:spPr>
          <a:xfrm>
            <a:off x="640080" y="2514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Scan every vertex to find the minimum. Simple, and fine for dense graphs.</a:t>
            </a:r>
            <a:endParaRPr lang="en-US" sz="1400" dirty="0"/>
          </a:p>
        </p:txBody>
      </p:sp>
      <p:sp>
        <p:nvSpPr>
          <p:cNvPr id="8" name="complexity card Binary heap"/>
          <p:cNvSpPr/>
          <p:nvPr/>
        </p:nvSpPr>
        <p:spPr>
          <a:xfrm>
            <a:off x="3246120" y="1280160"/>
            <a:ext cx="2651760" cy="269748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9" name="complexity name Binary heap"/>
          <p:cNvSpPr txBox="1"/>
          <p:nvPr/>
        </p:nvSpPr>
        <p:spPr>
          <a:xfrm>
            <a:off x="34290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Binary heap</a:t>
            </a:r>
            <a:endParaRPr lang="en-US" sz="1600" dirty="0"/>
          </a:p>
        </p:txBody>
      </p:sp>
      <p:sp>
        <p:nvSpPr>
          <p:cNvPr id="10" name="complexity big-o Binary heap"/>
          <p:cNvSpPr txBox="1"/>
          <p:nvPr/>
        </p:nvSpPr>
        <p:spPr>
          <a:xfrm>
            <a:off x="3429000" y="1828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O((V + E) log V)</a:t>
            </a:r>
            <a:endParaRPr lang="en-US" sz="2000" dirty="0"/>
          </a:p>
        </p:txBody>
      </p:sp>
      <p:sp>
        <p:nvSpPr>
          <p:cNvPr id="11" name="complexity text Binary heap"/>
          <p:cNvSpPr txBox="1"/>
          <p:nvPr/>
        </p:nvSpPr>
        <p:spPr>
          <a:xfrm>
            <a:off x="3429000" y="2514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priority queue finds the closest vertex fast. The standard choice for sparse graphs.</a:t>
            </a:r>
            <a:endParaRPr lang="en-US" sz="1400" dirty="0"/>
          </a:p>
        </p:txBody>
      </p:sp>
      <p:sp>
        <p:nvSpPr>
          <p:cNvPr id="12" name="complexity card Fibonacci heap"/>
          <p:cNvSpPr/>
          <p:nvPr/>
        </p:nvSpPr>
        <p:spPr>
          <a:xfrm>
            <a:off x="6035040" y="1280160"/>
            <a:ext cx="2651760" cy="269748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13" name="complexity name Fibonacci heap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Fibonacci heap</a:t>
            </a:r>
            <a:endParaRPr lang="en-US" sz="1600" dirty="0"/>
          </a:p>
        </p:txBody>
      </p:sp>
      <p:sp>
        <p:nvSpPr>
          <p:cNvPr id="14" name="complexity big-o Fibonacci heap"/>
          <p:cNvSpPr txBox="1"/>
          <p:nvPr/>
        </p:nvSpPr>
        <p:spPr>
          <a:xfrm>
            <a:off x="6217920" y="1828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O(E + V log V)</a:t>
            </a:r>
            <a:endParaRPr lang="en-US" sz="2000" dirty="0"/>
          </a:p>
        </p:txBody>
      </p:sp>
      <p:sp>
        <p:nvSpPr>
          <p:cNvPr id="15" name="complexity text Fibonacci heap"/>
          <p:cNvSpPr txBox="1"/>
          <p:nvPr/>
        </p:nvSpPr>
        <p:spPr>
          <a:xfrm>
            <a:off x="6217920" y="2514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Faster decrease-key gives the best known bound, but it is rarely used in practice.</a:t>
            </a:r>
            <a:endParaRPr lang="en-US" sz="1400" dirty="0"/>
          </a:p>
        </p:txBody>
      </p:sp>
      <p:sp>
        <p:nvSpPr>
          <p:cNvPr id="16" name="complexity legend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 code in this deck is the array version, O(V²). Example 1: V = 6, E = 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Why Greedy Is Safe</a:t>
            </a:r>
            <a:endParaRPr lang="en-US" sz="3600" dirty="0"/>
          </a:p>
        </p:txBody>
      </p:sp>
      <p:sp>
        <p:nvSpPr>
          <p:cNvPr id="4" name="icon bg FaCheckCircle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CheckCirc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329184" cy="329184"/>
          </a:xfrm>
          <a:prstGeom prst="rect">
            <a:avLst/>
          </a:prstGeom>
        </p:spPr>
      </p:pic>
      <p:sp>
        <p:nvSpPr>
          <p:cNvPr id="6" name="proof row 1"/>
          <p:cNvSpPr txBox="1"/>
          <p:nvPr/>
        </p:nvSpPr>
        <p:spPr>
          <a:xfrm>
            <a:off x="1188720" y="1280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Settled vertices are final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set S holds vertices whose shortest distance is already known.</a:t>
            </a:r>
            <a:endParaRPr lang="en-US" sz="1600" dirty="0"/>
          </a:p>
        </p:txBody>
      </p:sp>
      <p:sp>
        <p:nvSpPr>
          <p:cNvPr id="7" name="icon bg FaBolt"/>
          <p:cNvSpPr/>
          <p:nvPr/>
        </p:nvSpPr>
        <p:spPr>
          <a:xfrm>
            <a:off x="457200" y="26060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1" descr="Bo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715768"/>
            <a:ext cx="329184" cy="329184"/>
          </a:xfrm>
          <a:prstGeom prst="rect">
            <a:avLst/>
          </a:prstGeom>
        </p:spPr>
      </p:pic>
      <p:sp>
        <p:nvSpPr>
          <p:cNvPr id="9" name="proof row 2"/>
          <p:cNvSpPr txBox="1"/>
          <p:nvPr/>
        </p:nvSpPr>
        <p:spPr>
          <a:xfrm>
            <a:off x="1188720" y="2423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Pick the closest outside 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 has the smallest tentative distance among all remaining vertices.</a:t>
            </a:r>
            <a:endParaRPr lang="en-US" sz="1600" dirty="0"/>
          </a:p>
        </p:txBody>
      </p:sp>
      <p:sp>
        <p:nvSpPr>
          <p:cNvPr id="10" name="icon bg FaRulerHorizontal"/>
          <p:cNvSpPr/>
          <p:nvPr/>
        </p:nvSpPr>
        <p:spPr>
          <a:xfrm>
            <a:off x="457200" y="37490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2" descr="RulerHorizont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58768"/>
            <a:ext cx="329184" cy="329184"/>
          </a:xfrm>
          <a:prstGeom prst="rect">
            <a:avLst/>
          </a:prstGeom>
        </p:spPr>
      </p:pic>
      <p:sp>
        <p:nvSpPr>
          <p:cNvPr id="12" name="proof row 3"/>
          <p:cNvSpPr txBox="1"/>
          <p:nvPr/>
        </p:nvSpPr>
        <p:spPr>
          <a:xfrm>
            <a:off x="1188720" y="3566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detour can beat it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other route leaves S through a vertex at least as far, and edges never subtract cost.</a:t>
            </a:r>
            <a:endParaRPr lang="en-US" sz="1600" dirty="0"/>
          </a:p>
        </p:txBody>
      </p:sp>
      <p:sp>
        <p:nvSpPr>
          <p:cNvPr id="13" name="settled set"/>
          <p:cNvSpPr/>
          <p:nvPr/>
        </p:nvSpPr>
        <p:spPr>
          <a:xfrm>
            <a:off x="5212080" y="1371600"/>
            <a:ext cx="1737360" cy="310896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2"/>
            </a:solidFill>
            <a:prstDash val="dash"/>
          </a:ln>
        </p:spPr>
      </p:sp>
      <p:sp>
        <p:nvSpPr>
          <p:cNvPr id="14" name="settled label"/>
          <p:cNvSpPr txBox="1"/>
          <p:nvPr/>
        </p:nvSpPr>
        <p:spPr>
          <a:xfrm>
            <a:off x="530352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Settled set S</a:t>
            </a:r>
            <a:endParaRPr lang="en-US" sz="1200" dirty="0"/>
          </a:p>
        </p:txBody>
      </p:sp>
      <p:sp>
        <p:nvSpPr>
          <p:cNvPr id="15" name="edge s-u"/>
          <p:cNvSpPr/>
          <p:nvPr/>
        </p:nvSpPr>
        <p:spPr>
          <a:xfrm flipV="1">
            <a:off x="5943600" y="2103120"/>
            <a:ext cx="2194560" cy="82296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16" name="edge s-v"/>
          <p:cNvSpPr/>
          <p:nvPr/>
        </p:nvSpPr>
        <p:spPr>
          <a:xfrm>
            <a:off x="5943600" y="2926080"/>
            <a:ext cx="2194560" cy="82296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17" name="edge v-u"/>
          <p:cNvSpPr/>
          <p:nvPr/>
        </p:nvSpPr>
        <p:spPr>
          <a:xfrm>
            <a:off x="8138160" y="2103120"/>
            <a:ext cx="0" cy="164592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</a:ln>
        </p:spPr>
      </p:sp>
      <p:sp>
        <p:nvSpPr>
          <p:cNvPr id="18" name="weight s-u"/>
          <p:cNvSpPr txBox="1"/>
          <p:nvPr/>
        </p:nvSpPr>
        <p:spPr>
          <a:xfrm>
            <a:off x="6812280" y="2395728"/>
            <a:ext cx="457200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d[u]</a:t>
            </a:r>
            <a:endParaRPr lang="en-US" sz="1200" dirty="0"/>
          </a:p>
        </p:txBody>
      </p:sp>
      <p:sp>
        <p:nvSpPr>
          <p:cNvPr id="19" name="weight s-v"/>
          <p:cNvSpPr txBox="1"/>
          <p:nvPr/>
        </p:nvSpPr>
        <p:spPr>
          <a:xfrm>
            <a:off x="6812280" y="3218688"/>
            <a:ext cx="457200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≥ d[u]</a:t>
            </a:r>
            <a:endParaRPr lang="en-US" sz="1200" dirty="0"/>
          </a:p>
        </p:txBody>
      </p:sp>
      <p:sp>
        <p:nvSpPr>
          <p:cNvPr id="20" name="weight v-u"/>
          <p:cNvSpPr txBox="1"/>
          <p:nvPr/>
        </p:nvSpPr>
        <p:spPr>
          <a:xfrm>
            <a:off x="7909560" y="2807208"/>
            <a:ext cx="457200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≥ 0</a:t>
            </a:r>
            <a:endParaRPr lang="en-US" sz="1200" dirty="0"/>
          </a:p>
        </p:txBody>
      </p:sp>
      <p:sp>
        <p:nvSpPr>
          <p:cNvPr id="21" name="node s"/>
          <p:cNvSpPr txBox="1"/>
          <p:nvPr/>
        </p:nvSpPr>
        <p:spPr>
          <a:xfrm>
            <a:off x="5687568" y="267004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</a:t>
            </a:r>
            <a:endParaRPr lang="en-US" sz="1600" dirty="0"/>
          </a:p>
        </p:txBody>
      </p:sp>
      <p:sp>
        <p:nvSpPr>
          <p:cNvPr id="22" name="node u"/>
          <p:cNvSpPr txBox="1"/>
          <p:nvPr/>
        </p:nvSpPr>
        <p:spPr>
          <a:xfrm>
            <a:off x="7882128" y="1847088"/>
            <a:ext cx="512064" cy="51206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</a:t>
            </a:r>
            <a:endParaRPr lang="en-US" sz="1600" dirty="0"/>
          </a:p>
        </p:txBody>
      </p:sp>
      <p:sp>
        <p:nvSpPr>
          <p:cNvPr id="23" name="node v"/>
          <p:cNvSpPr txBox="1"/>
          <p:nvPr/>
        </p:nvSpPr>
        <p:spPr>
          <a:xfrm>
            <a:off x="7882128" y="3493008"/>
            <a:ext cx="512064" cy="512064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Limit: Negative Edges</a:t>
            </a:r>
            <a:endParaRPr lang="en-US" sz="3600" dirty="0"/>
          </a:p>
        </p:txBody>
      </p:sp>
      <p:sp>
        <p:nvSpPr>
          <p:cNvPr id="4" name="edge A-B"/>
          <p:cNvSpPr/>
          <p:nvPr/>
        </p:nvSpPr>
        <p:spPr>
          <a:xfrm>
            <a:off x="1170432" y="2743200"/>
            <a:ext cx="292608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5" name="edge A-C"/>
          <p:cNvSpPr/>
          <p:nvPr/>
        </p:nvSpPr>
        <p:spPr>
          <a:xfrm flipV="1">
            <a:off x="1130872" y="1802171"/>
            <a:ext cx="1273491" cy="80431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edge C-B"/>
          <p:cNvSpPr/>
          <p:nvPr/>
        </p:nvSpPr>
        <p:spPr>
          <a:xfrm>
            <a:off x="2868232" y="1782639"/>
            <a:ext cx="1273491" cy="804310"/>
          </a:xfrm>
          <a:prstGeom prst="line">
            <a:avLst/>
          </a:prstGeom>
          <a:noFill/>
          <a:ln w="444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weight A-B"/>
          <p:cNvSpPr txBox="1"/>
          <p:nvPr/>
        </p:nvSpPr>
        <p:spPr>
          <a:xfrm>
            <a:off x="2459736" y="2624328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weight A-C"/>
          <p:cNvSpPr txBox="1"/>
          <p:nvPr/>
        </p:nvSpPr>
        <p:spPr>
          <a:xfrm>
            <a:off x="1593882" y="2085454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9" name="weight C-B"/>
          <p:cNvSpPr txBox="1"/>
          <p:nvPr/>
        </p:nvSpPr>
        <p:spPr>
          <a:xfrm>
            <a:off x="3331242" y="2065922"/>
            <a:ext cx="347472" cy="237744"/>
          </a:xfrm>
          <a:prstGeom prst="roundRect">
            <a:avLst>
              <a:gd name="adj" fmla="val 30769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−4</a:t>
            </a:r>
            <a:endParaRPr lang="en-US" sz="1200" dirty="0"/>
          </a:p>
        </p:txBody>
      </p:sp>
      <p:sp>
        <p:nvSpPr>
          <p:cNvPr id="10" name="node A"/>
          <p:cNvSpPr txBox="1"/>
          <p:nvPr/>
        </p:nvSpPr>
        <p:spPr>
          <a:xfrm>
            <a:off x="658368" y="248716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1" name="node C"/>
          <p:cNvSpPr txBox="1"/>
          <p:nvPr/>
        </p:nvSpPr>
        <p:spPr>
          <a:xfrm>
            <a:off x="2395728" y="138988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2" name="node B"/>
          <p:cNvSpPr txBox="1"/>
          <p:nvPr/>
        </p:nvSpPr>
        <p:spPr>
          <a:xfrm>
            <a:off x="4133088" y="2487168"/>
            <a:ext cx="512064" cy="51206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result card"/>
          <p:cNvSpPr/>
          <p:nvPr/>
        </p:nvSpPr>
        <p:spPr>
          <a:xfrm>
            <a:off x="457200" y="3520440"/>
            <a:ext cx="44805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14" name="result text"/>
          <p:cNvSpPr txBox="1"/>
          <p:nvPr/>
        </p:nvSpPr>
        <p:spPr>
          <a:xfrm>
            <a:off x="640080" y="35204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Dijkstra reports dist(B) = 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True shortest: A→C→B = 5 − 4 = 1</a:t>
            </a:r>
            <a:endParaRPr lang="en-US" sz="1500" dirty="0"/>
          </a:p>
        </p:txBody>
      </p:sp>
      <p:sp>
        <p:nvSpPr>
          <p:cNvPr id="15" name="limit row 1"/>
          <p:cNvSpPr txBox="1"/>
          <p:nvPr/>
        </p:nvSpPr>
        <p:spPr>
          <a:xfrm>
            <a:off x="5303520" y="12801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What goes wrong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Dijkstra settles B at 2, then C at 5. Relaxing C→B gives 1, but B is already final.</a:t>
            </a:r>
            <a:endParaRPr lang="en-US" sz="1600" dirty="0"/>
          </a:p>
        </p:txBody>
      </p:sp>
      <p:sp>
        <p:nvSpPr>
          <p:cNvPr id="16" name="limit row 2"/>
          <p:cNvSpPr txBox="1"/>
          <p:nvPr/>
        </p:nvSpPr>
        <p:spPr>
          <a:xfrm>
            <a:off x="5303520" y="2423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rule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edge weight must be 0 or more.</a:t>
            </a:r>
            <a:endParaRPr lang="en-US" sz="1600" dirty="0"/>
          </a:p>
        </p:txBody>
      </p:sp>
      <p:sp>
        <p:nvSpPr>
          <p:cNvPr id="17" name="limit row 3"/>
          <p:cNvSpPr txBox="1"/>
          <p:nvPr/>
        </p:nvSpPr>
        <p:spPr>
          <a:xfrm>
            <a:off x="5303520" y="3337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fix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Bellman–Ford, which handles negative edges.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Where It Is Used</a:t>
            </a:r>
            <a:endParaRPr lang="en-US" sz="3600" dirty="0"/>
          </a:p>
        </p:txBody>
      </p:sp>
      <p:sp>
        <p:nvSpPr>
          <p:cNvPr id="4" name="app card Maps and GPS"/>
          <p:cNvSpPr/>
          <p:nvPr/>
        </p:nvSpPr>
        <p:spPr>
          <a:xfrm>
            <a:off x="457200" y="12344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5" name="icon bg FaMapMarkedAlt"/>
          <p:cNvSpPr/>
          <p:nvPr/>
        </p:nvSpPr>
        <p:spPr>
          <a:xfrm>
            <a:off x="662940" y="13944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MapMarked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495044"/>
            <a:ext cx="301752" cy="301752"/>
          </a:xfrm>
          <a:prstGeom prst="rect">
            <a:avLst/>
          </a:prstGeom>
        </p:spPr>
      </p:pic>
      <p:sp>
        <p:nvSpPr>
          <p:cNvPr id="7" name="app title Maps and GPS"/>
          <p:cNvSpPr txBox="1"/>
          <p:nvPr/>
        </p:nvSpPr>
        <p:spPr>
          <a:xfrm>
            <a:off x="137160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Maps and GPS</a:t>
            </a:r>
            <a:endParaRPr lang="en-US" sz="1600" dirty="0"/>
          </a:p>
        </p:txBody>
      </p:sp>
      <p:sp>
        <p:nvSpPr>
          <p:cNvPr id="8" name="app text Maps and GPS"/>
          <p:cNvSpPr txBox="1"/>
          <p:nvPr/>
        </p:nvSpPr>
        <p:spPr>
          <a:xfrm>
            <a:off x="640080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Fastest driving route between two places</a:t>
            </a:r>
            <a:endParaRPr lang="en-US" sz="1400" dirty="0"/>
          </a:p>
        </p:txBody>
      </p:sp>
      <p:sp>
        <p:nvSpPr>
          <p:cNvPr id="9" name="app card Network routing"/>
          <p:cNvSpPr/>
          <p:nvPr/>
        </p:nvSpPr>
        <p:spPr>
          <a:xfrm>
            <a:off x="3246120" y="12344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10" name="icon bg FaNetworkWired"/>
          <p:cNvSpPr/>
          <p:nvPr/>
        </p:nvSpPr>
        <p:spPr>
          <a:xfrm>
            <a:off x="3451860" y="13944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NetworkWire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44" y="1495044"/>
            <a:ext cx="301752" cy="301752"/>
          </a:xfrm>
          <a:prstGeom prst="rect">
            <a:avLst/>
          </a:prstGeom>
        </p:spPr>
      </p:pic>
      <p:sp>
        <p:nvSpPr>
          <p:cNvPr id="12" name="app title Network routing"/>
          <p:cNvSpPr txBox="1"/>
          <p:nvPr/>
        </p:nvSpPr>
        <p:spPr>
          <a:xfrm>
            <a:off x="416052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Network routing</a:t>
            </a:r>
            <a:endParaRPr lang="en-US" sz="1600" dirty="0"/>
          </a:p>
        </p:txBody>
      </p:sp>
      <p:sp>
        <p:nvSpPr>
          <p:cNvPr id="13" name="app text Network routing"/>
          <p:cNvSpPr txBox="1"/>
          <p:nvPr/>
        </p:nvSpPr>
        <p:spPr>
          <a:xfrm>
            <a:off x="3429000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OSPF and IS-IS pick least-cost paths</a:t>
            </a:r>
            <a:endParaRPr lang="en-US" sz="1400" dirty="0"/>
          </a:p>
        </p:txBody>
      </p:sp>
      <p:sp>
        <p:nvSpPr>
          <p:cNvPr id="14" name="app card Flight planning"/>
          <p:cNvSpPr/>
          <p:nvPr/>
        </p:nvSpPr>
        <p:spPr>
          <a:xfrm>
            <a:off x="6035040" y="12344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15" name="icon bg FaPlane"/>
          <p:cNvSpPr/>
          <p:nvPr/>
        </p:nvSpPr>
        <p:spPr>
          <a:xfrm>
            <a:off x="6240780" y="13944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2" descr="Pla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364" y="1495044"/>
            <a:ext cx="301752" cy="301752"/>
          </a:xfrm>
          <a:prstGeom prst="rect">
            <a:avLst/>
          </a:prstGeom>
        </p:spPr>
      </p:pic>
      <p:sp>
        <p:nvSpPr>
          <p:cNvPr id="17" name="app title Flight planning"/>
          <p:cNvSpPr txBox="1"/>
          <p:nvPr/>
        </p:nvSpPr>
        <p:spPr>
          <a:xfrm>
            <a:off x="694944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Flight planning</a:t>
            </a:r>
            <a:endParaRPr lang="en-US" sz="1600" dirty="0"/>
          </a:p>
        </p:txBody>
      </p:sp>
      <p:sp>
        <p:nvSpPr>
          <p:cNvPr id="18" name="app text Flight planning"/>
          <p:cNvSpPr txBox="1"/>
          <p:nvPr/>
        </p:nvSpPr>
        <p:spPr>
          <a:xfrm>
            <a:off x="6217920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Cheapest or shortest route across airports</a:t>
            </a:r>
            <a:endParaRPr lang="en-US" sz="1400" dirty="0"/>
          </a:p>
        </p:txBody>
      </p:sp>
      <p:sp>
        <p:nvSpPr>
          <p:cNvPr id="19" name="app card Game AI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20" name="icon bg FaGamepad"/>
          <p:cNvSpPr/>
          <p:nvPr/>
        </p:nvSpPr>
        <p:spPr>
          <a:xfrm>
            <a:off x="662940" y="31318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Image 3" descr="Gamepa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3232404"/>
            <a:ext cx="301752" cy="301752"/>
          </a:xfrm>
          <a:prstGeom prst="rect">
            <a:avLst/>
          </a:prstGeom>
        </p:spPr>
      </p:pic>
      <p:sp>
        <p:nvSpPr>
          <p:cNvPr id="22" name="app title Game AI"/>
          <p:cNvSpPr txBox="1"/>
          <p:nvPr/>
        </p:nvSpPr>
        <p:spPr>
          <a:xfrm>
            <a:off x="137160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Game AI</a:t>
            </a:r>
            <a:endParaRPr lang="en-US" sz="1600" dirty="0"/>
          </a:p>
        </p:txBody>
      </p:sp>
      <p:sp>
        <p:nvSpPr>
          <p:cNvPr id="23" name="app text Game AI"/>
          <p:cNvSpPr txBox="1"/>
          <p:nvPr/>
        </p:nvSpPr>
        <p:spPr>
          <a:xfrm>
            <a:off x="64008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Characters find the way across a map</a:t>
            </a:r>
            <a:endParaRPr lang="en-US" sz="1400" dirty="0"/>
          </a:p>
        </p:txBody>
      </p:sp>
      <p:sp>
        <p:nvSpPr>
          <p:cNvPr id="24" name="app card Robotics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25" name="icon bg FaRobot"/>
          <p:cNvSpPr/>
          <p:nvPr/>
        </p:nvSpPr>
        <p:spPr>
          <a:xfrm>
            <a:off x="3451860" y="31318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4" descr="Robo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2444" y="3232404"/>
            <a:ext cx="301752" cy="301752"/>
          </a:xfrm>
          <a:prstGeom prst="rect">
            <a:avLst/>
          </a:prstGeom>
        </p:spPr>
      </p:pic>
      <p:sp>
        <p:nvSpPr>
          <p:cNvPr id="27" name="app title Robotics"/>
          <p:cNvSpPr txBox="1"/>
          <p:nvPr/>
        </p:nvSpPr>
        <p:spPr>
          <a:xfrm>
            <a:off x="416052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Robotics</a:t>
            </a:r>
            <a:endParaRPr lang="en-US" sz="1600" dirty="0"/>
          </a:p>
        </p:txBody>
      </p:sp>
      <p:sp>
        <p:nvSpPr>
          <p:cNvPr id="28" name="app text Robotics"/>
          <p:cNvSpPr txBox="1"/>
          <p:nvPr/>
        </p:nvSpPr>
        <p:spPr>
          <a:xfrm>
            <a:off x="342900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Path planning around obstacles on a grid</a:t>
            </a:r>
            <a:endParaRPr lang="en-US" sz="1400" dirty="0"/>
          </a:p>
        </p:txBody>
      </p:sp>
      <p:sp>
        <p:nvSpPr>
          <p:cNvPr id="29" name="app card Logistics"/>
          <p:cNvSpPr/>
          <p:nvPr/>
        </p:nvSpPr>
        <p:spPr>
          <a:xfrm>
            <a:off x="603504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E2230">
                <a:alpha val="14000"/>
              </a:srgbClr>
            </a:outerShdw>
          </a:effectLst>
        </p:spPr>
      </p:sp>
      <p:sp>
        <p:nvSpPr>
          <p:cNvPr id="30" name="icon bg FaTruck"/>
          <p:cNvSpPr/>
          <p:nvPr/>
        </p:nvSpPr>
        <p:spPr>
          <a:xfrm>
            <a:off x="6240780" y="31318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5" descr="Tru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364" y="3232404"/>
            <a:ext cx="301752" cy="301752"/>
          </a:xfrm>
          <a:prstGeom prst="rect">
            <a:avLst/>
          </a:prstGeom>
        </p:spPr>
      </p:pic>
      <p:sp>
        <p:nvSpPr>
          <p:cNvPr id="32" name="app title Logistics"/>
          <p:cNvSpPr txBox="1"/>
          <p:nvPr/>
        </p:nvSpPr>
        <p:spPr>
          <a:xfrm>
            <a:off x="694944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Logistics</a:t>
            </a:r>
            <a:endParaRPr lang="en-US" sz="1600" dirty="0"/>
          </a:p>
        </p:txBody>
      </p:sp>
      <p:sp>
        <p:nvSpPr>
          <p:cNvPr id="33" name="app text Logistics"/>
          <p:cNvSpPr txBox="1"/>
          <p:nvPr/>
        </p:nvSpPr>
        <p:spPr>
          <a:xfrm>
            <a:off x="621792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Delivery routes with the lowest cost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7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takeaway card 1"/>
          <p:cNvSpPr/>
          <p:nvPr/>
        </p:nvSpPr>
        <p:spPr>
          <a:xfrm>
            <a:off x="548640" y="137160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5" name="takeaway number 1"/>
          <p:cNvSpPr txBox="1"/>
          <p:nvPr/>
        </p:nvSpPr>
        <p:spPr>
          <a:xfrm>
            <a:off x="777240" y="1371600"/>
            <a:ext cx="640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</a:t>
            </a:r>
            <a:endParaRPr lang="en-US" sz="3600" dirty="0"/>
          </a:p>
        </p:txBody>
      </p:sp>
      <p:sp>
        <p:nvSpPr>
          <p:cNvPr id="6" name="takeaway text 1"/>
          <p:cNvSpPr txBox="1"/>
          <p:nvPr/>
        </p:nvSpPr>
        <p:spPr>
          <a:xfrm>
            <a:off x="1508760" y="13716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Greedy: always settle the closest unvisited vertex.</a:t>
            </a:r>
            <a:endParaRPr lang="en-US" sz="1800" dirty="0"/>
          </a:p>
        </p:txBody>
      </p:sp>
      <p:sp>
        <p:nvSpPr>
          <p:cNvPr id="7" name="takeaway card 2"/>
          <p:cNvSpPr/>
          <p:nvPr/>
        </p:nvSpPr>
        <p:spPr>
          <a:xfrm>
            <a:off x="4663440" y="137160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8" name="takeaway number 2"/>
          <p:cNvSpPr txBox="1"/>
          <p:nvPr/>
        </p:nvSpPr>
        <p:spPr>
          <a:xfrm>
            <a:off x="4892040" y="1371600"/>
            <a:ext cx="640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2</a:t>
            </a:r>
            <a:endParaRPr lang="en-US" sz="3600" dirty="0"/>
          </a:p>
        </p:txBody>
      </p:sp>
      <p:sp>
        <p:nvSpPr>
          <p:cNvPr id="9" name="takeaway text 2"/>
          <p:cNvSpPr txBox="1"/>
          <p:nvPr/>
        </p:nvSpPr>
        <p:spPr>
          <a:xfrm>
            <a:off x="5623560" y="13716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Relaxation updates neighbors whenever a shorter route appears.</a:t>
            </a:r>
            <a:endParaRPr lang="en-US" sz="1800" dirty="0"/>
          </a:p>
        </p:txBody>
      </p:sp>
      <p:sp>
        <p:nvSpPr>
          <p:cNvPr id="10" name="takeaway card 3"/>
          <p:cNvSpPr/>
          <p:nvPr/>
        </p:nvSpPr>
        <p:spPr>
          <a:xfrm>
            <a:off x="548640" y="301752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11" name="takeaway number 3"/>
          <p:cNvSpPr txBox="1"/>
          <p:nvPr/>
        </p:nvSpPr>
        <p:spPr>
          <a:xfrm>
            <a:off x="777240" y="3017520"/>
            <a:ext cx="640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takeaway text 3"/>
          <p:cNvSpPr txBox="1"/>
          <p:nvPr/>
        </p:nvSpPr>
        <p:spPr>
          <a:xfrm>
            <a:off x="1508760" y="30175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Correct only when every edge weight is non-negative.</a:t>
            </a:r>
            <a:endParaRPr lang="en-US" sz="1800" dirty="0"/>
          </a:p>
        </p:txBody>
      </p:sp>
      <p:sp>
        <p:nvSpPr>
          <p:cNvPr id="13" name="takeaway card 4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14" name="takeaway number 4"/>
          <p:cNvSpPr txBox="1"/>
          <p:nvPr/>
        </p:nvSpPr>
        <p:spPr>
          <a:xfrm>
            <a:off x="4892040" y="3017520"/>
            <a:ext cx="640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4</a:t>
            </a:r>
            <a:endParaRPr lang="en-US" sz="3600" dirty="0"/>
          </a:p>
        </p:txBody>
      </p:sp>
      <p:sp>
        <p:nvSpPr>
          <p:cNvPr id="15" name="takeaway text 4"/>
          <p:cNvSpPr txBox="1"/>
          <p:nvPr/>
        </p:nvSpPr>
        <p:spPr>
          <a:xfrm>
            <a:off x="5623560" y="30175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The array version runs in O(V²). A binary heap gives O((V + E) log V).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ijkstra Routes">
  <a:themeElements>
    <a:clrScheme name="Dijkstra Routes">
      <a:dk1>
        <a:srgbClr val="0E2230"/>
      </a:dk1>
      <a:lt1>
        <a:srgbClr val="FFFFFF"/>
      </a:lt1>
      <a:dk2>
        <a:srgbClr val="0F4C5C"/>
      </a:dk2>
      <a:lt2>
        <a:srgbClr val="EAF2F3"/>
      </a:lt2>
      <a:accent1>
        <a:srgbClr val="D9480F"/>
      </a:accent1>
      <a:accent2>
        <a:srgbClr val="2A9D8F"/>
      </a:accent2>
      <a:accent3>
        <a:srgbClr val="F4A261"/>
      </a:accent3>
      <a:accent4>
        <a:srgbClr val="586775"/>
      </a:accent4>
      <a:accent5>
        <a:srgbClr val="264653"/>
      </a:accent5>
      <a:accent6>
        <a:srgbClr val="B23A48"/>
      </a:accent6>
      <a:hlink>
        <a:srgbClr val="0F4C5C"/>
      </a:hlink>
      <a:folHlink>
        <a:srgbClr val="586775"/>
      </a:folHlink>
    </a:clrScheme>
    <a:fontScheme name="Dijkstra Rout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Greedy Algorithm</dc:title>
  <dc:subject>PptxGenJS Presentation</dc:subject>
  <dc:creator>PptxGenJS</dc:creator>
  <cp:lastModifiedBy>PptxGenJS</cp:lastModifiedBy>
  <cp:revision>1</cp:revision>
  <dcterms:created xsi:type="dcterms:W3CDTF">2026-10-19T10:55:03Z</dcterms:created>
  <dcterms:modified xsi:type="dcterms:W3CDTF">2026-10-19T10:55:03Z</dcterms:modified>
</cp:coreProperties>
</file>